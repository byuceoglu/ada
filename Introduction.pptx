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5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5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tr-T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44E5F08-3F53-4538-BA78-34671C7076C4}" type="datetimeFigureOut">
              <a:rPr lang="tr-TR" smtClean="0"/>
              <a:t>14.11.2017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E36DDF3-3D77-4B0D-9209-21E8BEE520AB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yuceoglu@migros.com.t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wnload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Birol Yüceoğlu</a:t>
            </a:r>
          </a:p>
          <a:p>
            <a:r>
              <a:rPr lang="tr-TR" dirty="0" smtClean="0"/>
              <a:t>Migros T.A.Ş.</a:t>
            </a:r>
          </a:p>
          <a:p>
            <a:r>
              <a:rPr lang="tr-TR" dirty="0" smtClean="0">
                <a:hlinkClick r:id="rId2"/>
              </a:rPr>
              <a:t>byuceoglu@migros.com.tr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b="1" u="sng" dirty="0" smtClean="0"/>
              <a:t>Advanced </a:t>
            </a:r>
            <a:r>
              <a:rPr lang="en-US" b="1" u="sng" dirty="0" smtClean="0"/>
              <a:t>Data Analytics</a:t>
            </a:r>
            <a:r>
              <a:rPr lang="tr-TR" b="1" u="sng" dirty="0" smtClean="0"/>
              <a:t/>
            </a:r>
            <a:br>
              <a:rPr lang="tr-TR" b="1" u="sng" dirty="0" smtClean="0"/>
            </a:br>
            <a:r>
              <a:rPr lang="tr-TR" b="1" u="sng" dirty="0" smtClean="0"/>
              <a:t/>
            </a:r>
            <a:br>
              <a:rPr lang="tr-TR" b="1" u="sng" dirty="0" smtClean="0"/>
            </a:br>
            <a:r>
              <a:rPr lang="tr-TR" sz="1800" b="1" u="sng" dirty="0" err="1" smtClean="0"/>
              <a:t>Introduction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11325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Syllabus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Python, </a:t>
            </a:r>
            <a:r>
              <a:rPr lang="tr-TR" dirty="0" err="1" smtClean="0"/>
              <a:t>Jupyter</a:t>
            </a:r>
            <a:r>
              <a:rPr lang="tr-TR" dirty="0" smtClean="0"/>
              <a:t> </a:t>
            </a:r>
            <a:r>
              <a:rPr lang="en-US" dirty="0" smtClean="0"/>
              <a:t>Notebook</a:t>
            </a:r>
            <a:endParaRPr lang="tr-TR" dirty="0"/>
          </a:p>
          <a:p>
            <a:r>
              <a:rPr lang="tr-TR" dirty="0" smtClean="0"/>
              <a:t>M</a:t>
            </a:r>
            <a:r>
              <a:rPr lang="en-US" dirty="0" err="1" smtClean="0"/>
              <a:t>achine</a:t>
            </a:r>
            <a:r>
              <a:rPr lang="en-US" dirty="0" smtClean="0"/>
              <a:t> learning</a:t>
            </a:r>
            <a:r>
              <a:rPr lang="tr-TR" dirty="0" smtClean="0"/>
              <a:t>, </a:t>
            </a:r>
            <a:r>
              <a:rPr lang="tr-TR" dirty="0" err="1" smtClean="0"/>
              <a:t>scikit-learn</a:t>
            </a:r>
            <a:endParaRPr lang="tr-TR" dirty="0" smtClean="0"/>
          </a:p>
          <a:p>
            <a:r>
              <a:rPr lang="en-US" dirty="0"/>
              <a:t>Case Study - Supervised Learning: </a:t>
            </a:r>
            <a:r>
              <a:rPr lang="tr-TR" dirty="0"/>
              <a:t>Kredi </a:t>
            </a:r>
            <a:r>
              <a:rPr lang="tr-TR" dirty="0" err="1"/>
              <a:t>Skorlama</a:t>
            </a:r>
            <a:endParaRPr lang="tr-TR" dirty="0"/>
          </a:p>
          <a:p>
            <a:r>
              <a:rPr lang="en-US" dirty="0" smtClean="0"/>
              <a:t>Case Study - Unsupervised Learning: </a:t>
            </a:r>
            <a:r>
              <a:rPr lang="tr-TR" dirty="0" smtClean="0"/>
              <a:t>Müşteri </a:t>
            </a:r>
            <a:r>
              <a:rPr lang="tr-TR" dirty="0" err="1" smtClean="0"/>
              <a:t>Segmentasyonu</a:t>
            </a:r>
            <a:endParaRPr lang="tr-TR" dirty="0" smtClean="0"/>
          </a:p>
          <a:p>
            <a:r>
              <a:rPr lang="tr-TR" dirty="0" smtClean="0"/>
              <a:t>Case </a:t>
            </a:r>
            <a:r>
              <a:rPr lang="tr-TR" dirty="0" err="1" smtClean="0"/>
              <a:t>Study</a:t>
            </a:r>
            <a:r>
              <a:rPr lang="tr-TR" dirty="0" smtClean="0"/>
              <a:t> – </a:t>
            </a:r>
            <a:r>
              <a:rPr lang="tr-TR" dirty="0" err="1" smtClean="0"/>
              <a:t>Supervised</a:t>
            </a:r>
            <a:r>
              <a:rPr lang="tr-TR" dirty="0" smtClean="0"/>
              <a:t> Learning: Fotoğraftan Karakter Tanıma</a:t>
            </a:r>
          </a:p>
          <a:p>
            <a:r>
              <a:rPr lang="tr-TR" dirty="0" smtClean="0"/>
              <a:t>Case </a:t>
            </a:r>
            <a:r>
              <a:rPr lang="tr-TR" dirty="0" err="1" smtClean="0"/>
              <a:t>Study</a:t>
            </a:r>
            <a:r>
              <a:rPr lang="tr-TR" dirty="0" smtClean="0"/>
              <a:t> – </a:t>
            </a:r>
            <a:r>
              <a:rPr lang="tr-TR" dirty="0" err="1" smtClean="0"/>
              <a:t>Unsupervised</a:t>
            </a:r>
            <a:r>
              <a:rPr lang="tr-TR" dirty="0" smtClean="0"/>
              <a:t> Learning: El Yazısından Karakter </a:t>
            </a:r>
            <a:r>
              <a:rPr lang="tr-TR" dirty="0"/>
              <a:t>T</a:t>
            </a:r>
            <a:r>
              <a:rPr lang="tr-TR" dirty="0" smtClean="0"/>
              <a:t>anıma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8193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Machine Learning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Supervised</a:t>
            </a:r>
            <a:r>
              <a:rPr lang="tr-TR" dirty="0" smtClean="0"/>
              <a:t> </a:t>
            </a:r>
            <a:r>
              <a:rPr lang="tr-TR" dirty="0" err="1" smtClean="0"/>
              <a:t>learning</a:t>
            </a:r>
            <a:r>
              <a:rPr lang="tr-TR" dirty="0" smtClean="0"/>
              <a:t> (Güdümlü öğrenme)</a:t>
            </a:r>
          </a:p>
          <a:p>
            <a:pPr lvl="1"/>
            <a:r>
              <a:rPr lang="tr-TR" dirty="0" smtClean="0"/>
              <a:t>Classification</a:t>
            </a:r>
          </a:p>
          <a:p>
            <a:pPr lvl="1"/>
            <a:r>
              <a:rPr lang="tr-TR" dirty="0" smtClean="0"/>
              <a:t>Regression</a:t>
            </a:r>
          </a:p>
          <a:p>
            <a:r>
              <a:rPr lang="tr-TR" dirty="0" err="1" smtClean="0"/>
              <a:t>Unsupervised</a:t>
            </a:r>
            <a:r>
              <a:rPr lang="tr-TR" dirty="0" smtClean="0"/>
              <a:t> </a:t>
            </a:r>
            <a:r>
              <a:rPr lang="tr-TR" dirty="0" err="1" smtClean="0"/>
              <a:t>learning</a:t>
            </a:r>
            <a:r>
              <a:rPr lang="tr-TR" dirty="0" smtClean="0"/>
              <a:t> (Güdümsüz öğrenme)</a:t>
            </a:r>
          </a:p>
          <a:p>
            <a:r>
              <a:rPr lang="tr-TR" dirty="0" err="1" smtClean="0"/>
              <a:t>Association</a:t>
            </a:r>
            <a:r>
              <a:rPr lang="tr-TR" dirty="0" smtClean="0"/>
              <a:t> </a:t>
            </a:r>
            <a:r>
              <a:rPr lang="tr-TR" dirty="0" err="1" smtClean="0"/>
              <a:t>rules</a:t>
            </a:r>
            <a:r>
              <a:rPr lang="tr-TR" dirty="0" smtClean="0"/>
              <a:t> (Birliktelik kuralları)</a:t>
            </a:r>
          </a:p>
          <a:p>
            <a:endParaRPr lang="tr-TR" dirty="0"/>
          </a:p>
          <a:p>
            <a:r>
              <a:rPr lang="tr-TR" dirty="0" err="1" smtClean="0"/>
              <a:t>Recommender</a:t>
            </a:r>
            <a:r>
              <a:rPr lang="tr-TR" dirty="0" smtClean="0"/>
              <a:t> </a:t>
            </a:r>
            <a:r>
              <a:rPr lang="tr-TR" dirty="0" err="1" smtClean="0"/>
              <a:t>systems</a:t>
            </a:r>
            <a:r>
              <a:rPr lang="tr-TR" dirty="0" smtClean="0"/>
              <a:t> (Tavsiye sistemleri)</a:t>
            </a:r>
          </a:p>
          <a:p>
            <a:r>
              <a:rPr lang="tr-TR" dirty="0" err="1" smtClean="0"/>
              <a:t>Text</a:t>
            </a:r>
            <a:r>
              <a:rPr lang="tr-TR" dirty="0" smtClean="0"/>
              <a:t> </a:t>
            </a:r>
            <a:r>
              <a:rPr lang="tr-TR" dirty="0" err="1" smtClean="0"/>
              <a:t>mining</a:t>
            </a:r>
            <a:r>
              <a:rPr lang="tr-TR" dirty="0" smtClean="0"/>
              <a:t> (Metin analizi)</a:t>
            </a:r>
          </a:p>
          <a:p>
            <a:r>
              <a:rPr lang="tr-TR" dirty="0" err="1" smtClean="0"/>
              <a:t>Social</a:t>
            </a:r>
            <a:r>
              <a:rPr lang="tr-TR" dirty="0" smtClean="0"/>
              <a:t> </a:t>
            </a:r>
            <a:r>
              <a:rPr lang="tr-TR" dirty="0" err="1" smtClean="0"/>
              <a:t>networks</a:t>
            </a:r>
            <a:r>
              <a:rPr lang="tr-TR" dirty="0" smtClean="0"/>
              <a:t> (Sosyal ağ analizi)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406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Machine Learning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26" name="Picture 2" descr="C:\Users\byuceoglu\Desktop\ml_ma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18346"/>
            <a:ext cx="8763000" cy="546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96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Python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err="1" smtClean="0"/>
              <a:t>Python</a:t>
            </a:r>
            <a:r>
              <a:rPr lang="tr-TR" dirty="0" smtClean="0"/>
              <a:t> için </a:t>
            </a:r>
            <a:r>
              <a:rPr lang="tr-TR" dirty="0" err="1" smtClean="0"/>
              <a:t>Anaconda</a:t>
            </a:r>
            <a:r>
              <a:rPr lang="tr-TR" dirty="0" smtClean="0"/>
              <a:t> </a:t>
            </a:r>
            <a:r>
              <a:rPr lang="tr-TR" dirty="0" err="1" smtClean="0"/>
              <a:t>distributionını</a:t>
            </a:r>
            <a:r>
              <a:rPr lang="tr-TR" dirty="0" smtClean="0"/>
              <a:t> kullanacağız.</a:t>
            </a:r>
          </a:p>
          <a:p>
            <a:pPr lvl="1"/>
            <a:r>
              <a:rPr lang="tr-TR" dirty="0">
                <a:hlinkClick r:id="rId2"/>
              </a:rPr>
              <a:t>https://www.anaconda.com/download</a:t>
            </a:r>
            <a:r>
              <a:rPr lang="tr-TR" dirty="0" smtClean="0">
                <a:hlinkClick r:id="rId2"/>
              </a:rPr>
              <a:t>/</a:t>
            </a:r>
            <a:r>
              <a:rPr lang="tr-TR" dirty="0" smtClean="0"/>
              <a:t> 	</a:t>
            </a:r>
          </a:p>
          <a:p>
            <a:r>
              <a:rPr lang="tr-TR" dirty="0" smtClean="0"/>
              <a:t>3.5 ya da 3.6 versiyonunu indirebilirsiniz</a:t>
            </a:r>
          </a:p>
          <a:p>
            <a:r>
              <a:rPr lang="tr-TR" dirty="0" err="1" smtClean="0"/>
              <a:t>Anaconda</a:t>
            </a:r>
            <a:r>
              <a:rPr lang="tr-TR" dirty="0" smtClean="0"/>
              <a:t> kullanacağımız bir çok paket yüklü halde geldiği için en kolay kullanabileceğimiz paketlerden biri.</a:t>
            </a:r>
          </a:p>
          <a:p>
            <a:r>
              <a:rPr lang="tr-TR" dirty="0" smtClean="0"/>
              <a:t>Console, editör ve notebook ortamlarıyla birlikte geliyor.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078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Scikit-learn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Kolay bir </a:t>
            </a:r>
            <a:r>
              <a:rPr lang="tr-TR" dirty="0" err="1" smtClean="0"/>
              <a:t>API’a</a:t>
            </a:r>
            <a:r>
              <a:rPr lang="tr-TR" dirty="0" smtClean="0"/>
              <a:t> sahip bir makine öğrenmesi kütüphanesi</a:t>
            </a:r>
          </a:p>
          <a:p>
            <a:r>
              <a:rPr lang="tr-TR" dirty="0" smtClean="0"/>
              <a:t>Modelleri, dönüşümleri benzer komutlarla gerçekleştirmek mümkün (fit/</a:t>
            </a:r>
            <a:r>
              <a:rPr lang="tr-TR" dirty="0" err="1" smtClean="0"/>
              <a:t>predict</a:t>
            </a:r>
            <a:r>
              <a:rPr lang="tr-TR" dirty="0" smtClean="0"/>
              <a:t>, </a:t>
            </a:r>
            <a:r>
              <a:rPr lang="tr-TR" dirty="0" err="1" smtClean="0"/>
              <a:t>transform</a:t>
            </a:r>
            <a:r>
              <a:rPr lang="tr-TR" dirty="0" smtClean="0"/>
              <a:t>)</a:t>
            </a:r>
          </a:p>
          <a:p>
            <a:r>
              <a:rPr lang="tr-TR" dirty="0" smtClean="0"/>
              <a:t>Kullanacağımız paketi yükleme</a:t>
            </a:r>
            <a:endParaRPr lang="tr-TR" dirty="0"/>
          </a:p>
          <a:p>
            <a:pPr lvl="1"/>
            <a:r>
              <a:rPr lang="tr-TR" dirty="0" smtClean="0"/>
              <a:t>from </a:t>
            </a:r>
            <a:r>
              <a:rPr lang="tr-TR" dirty="0"/>
              <a:t>sklearn.tree import </a:t>
            </a:r>
            <a:r>
              <a:rPr lang="tr-TR" dirty="0" smtClean="0"/>
              <a:t>DecisionTreeClassifier</a:t>
            </a:r>
          </a:p>
          <a:p>
            <a:r>
              <a:rPr lang="tr-TR" dirty="0" smtClean="0"/>
              <a:t>Kullanacağımız yöntemi oluşturma</a:t>
            </a:r>
          </a:p>
          <a:p>
            <a:pPr lvl="1"/>
            <a:r>
              <a:rPr lang="tr-TR" dirty="0" smtClean="0"/>
              <a:t>clf </a:t>
            </a:r>
            <a:r>
              <a:rPr lang="tr-TR" dirty="0"/>
              <a:t>= </a:t>
            </a:r>
            <a:r>
              <a:rPr lang="tr-TR" dirty="0" smtClean="0"/>
              <a:t>DecisionTreeClassifier(</a:t>
            </a:r>
            <a:r>
              <a:rPr lang="tr-TR" i="1" dirty="0" smtClean="0"/>
              <a:t>options</a:t>
            </a:r>
            <a:r>
              <a:rPr lang="tr-TR" dirty="0" smtClean="0"/>
              <a:t>) </a:t>
            </a:r>
          </a:p>
          <a:p>
            <a:r>
              <a:rPr lang="tr-TR" dirty="0" smtClean="0"/>
              <a:t>Öğrenme</a:t>
            </a:r>
          </a:p>
          <a:p>
            <a:pPr lvl="1"/>
            <a:r>
              <a:rPr lang="tr-TR" dirty="0" smtClean="0"/>
              <a:t>clf.fit(X_train,y)</a:t>
            </a:r>
          </a:p>
          <a:p>
            <a:r>
              <a:rPr lang="tr-TR" dirty="0" smtClean="0"/>
              <a:t>Tahmin ve test</a:t>
            </a:r>
          </a:p>
          <a:p>
            <a:pPr lvl="1"/>
            <a:r>
              <a:rPr lang="tr-TR" dirty="0" smtClean="0"/>
              <a:t>y_pred = clf.predict(X_test)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9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Scikit-learn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smtClean="0"/>
              <a:t>Tahmin yöntemi bir çok </a:t>
            </a:r>
            <a:r>
              <a:rPr lang="tr-TR" dirty="0" err="1" smtClean="0"/>
              <a:t>classifierda</a:t>
            </a:r>
            <a:r>
              <a:rPr lang="tr-TR" dirty="0" smtClean="0"/>
              <a:t> </a:t>
            </a:r>
            <a:r>
              <a:rPr lang="tr-TR" dirty="0" err="1" smtClean="0"/>
              <a:t>olasılıksal</a:t>
            </a:r>
            <a:r>
              <a:rPr lang="tr-TR" dirty="0" smtClean="0"/>
              <a:t> olarak da tahmin etmemizi sağlar</a:t>
            </a:r>
          </a:p>
          <a:p>
            <a:pPr lvl="1"/>
            <a:r>
              <a:rPr lang="tr-TR" dirty="0" err="1" smtClean="0"/>
              <a:t>y_pred_proba</a:t>
            </a:r>
            <a:r>
              <a:rPr lang="tr-TR" dirty="0" smtClean="0"/>
              <a:t> </a:t>
            </a:r>
            <a:r>
              <a:rPr lang="tr-TR" dirty="0"/>
              <a:t>= </a:t>
            </a:r>
            <a:r>
              <a:rPr lang="tr-TR" dirty="0" err="1" smtClean="0"/>
              <a:t>clf.predict_proba</a:t>
            </a:r>
            <a:r>
              <a:rPr lang="tr-TR" dirty="0" smtClean="0"/>
              <a:t>(</a:t>
            </a:r>
            <a:r>
              <a:rPr lang="tr-TR" dirty="0" err="1" smtClean="0"/>
              <a:t>X_test</a:t>
            </a:r>
            <a:r>
              <a:rPr lang="tr-TR" dirty="0"/>
              <a:t>)</a:t>
            </a:r>
          </a:p>
          <a:p>
            <a:r>
              <a:rPr lang="tr-TR" dirty="0" err="1" smtClean="0"/>
              <a:t>Transform</a:t>
            </a:r>
            <a:r>
              <a:rPr lang="tr-TR" dirty="0" smtClean="0"/>
              <a:t> yöntemi ise daha çok veri ile ilgili dönüşümleri yapmamızı sağlar. Bunlar ölçekleme, normal dağılıma dönüştürme, </a:t>
            </a:r>
            <a:r>
              <a:rPr lang="tr-TR" dirty="0" err="1" smtClean="0"/>
              <a:t>principal</a:t>
            </a:r>
            <a:r>
              <a:rPr lang="tr-TR" dirty="0" smtClean="0"/>
              <a:t> </a:t>
            </a:r>
            <a:r>
              <a:rPr lang="tr-TR" dirty="0" err="1" smtClean="0"/>
              <a:t>component</a:t>
            </a:r>
            <a:r>
              <a:rPr lang="tr-TR" dirty="0" smtClean="0"/>
              <a:t> </a:t>
            </a:r>
            <a:r>
              <a:rPr lang="tr-TR" dirty="0" err="1" smtClean="0"/>
              <a:t>analysis</a:t>
            </a:r>
            <a:r>
              <a:rPr lang="tr-TR" dirty="0" smtClean="0"/>
              <a:t> gibi yöntemleri içerir. Aynı zamanda verideki eksikleri doldurmak için kullanılan araçlar da </a:t>
            </a:r>
            <a:r>
              <a:rPr lang="tr-TR" dirty="0" err="1" smtClean="0"/>
              <a:t>transform</a:t>
            </a:r>
            <a:r>
              <a:rPr lang="tr-TR" dirty="0" smtClean="0"/>
              <a:t> yöntemini kullanır:</a:t>
            </a:r>
            <a:endParaRPr lang="tr-TR" dirty="0"/>
          </a:p>
          <a:p>
            <a:pPr lvl="1"/>
            <a:r>
              <a:rPr lang="tr-TR" dirty="0" err="1" smtClean="0"/>
              <a:t>X_transformed</a:t>
            </a:r>
            <a:r>
              <a:rPr lang="tr-TR" dirty="0" smtClean="0"/>
              <a:t> = </a:t>
            </a:r>
            <a:r>
              <a:rPr lang="tr-TR" dirty="0" err="1" smtClean="0"/>
              <a:t>PCA.transform</a:t>
            </a:r>
            <a:r>
              <a:rPr lang="tr-TR" dirty="0" smtClean="0"/>
              <a:t>(</a:t>
            </a:r>
            <a:r>
              <a:rPr lang="tr-TR" dirty="0" err="1" smtClean="0"/>
              <a:t>X_test</a:t>
            </a:r>
            <a:r>
              <a:rPr lang="tr-TR" dirty="0"/>
              <a:t>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209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Jupyter Notebook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smtClean="0"/>
              <a:t>Interactive computing environment</a:t>
            </a:r>
          </a:p>
          <a:p>
            <a:r>
              <a:rPr lang="tr-TR" dirty="0" smtClean="0"/>
              <a:t>Kod ve yorum/gözlemi beraber yazabilme imkanı tanıyan bir ortam</a:t>
            </a:r>
            <a:endParaRPr lang="en-US" dirty="0" smtClean="0"/>
          </a:p>
          <a:p>
            <a:r>
              <a:rPr lang="tr-TR" dirty="0" smtClean="0"/>
              <a:t>Hazırlanan notebooklar çeşitli formatlarda kaydedilebilir </a:t>
            </a:r>
            <a:r>
              <a:rPr lang="en-US" dirty="0" smtClean="0"/>
              <a:t>(html, </a:t>
            </a:r>
            <a:r>
              <a:rPr lang="en-US" dirty="0" err="1" smtClean="0"/>
              <a:t>pdf</a:t>
            </a:r>
            <a:r>
              <a:rPr lang="en-US" dirty="0" smtClean="0"/>
              <a:t>, </a:t>
            </a:r>
            <a:r>
              <a:rPr lang="en-US" dirty="0" err="1" smtClean="0"/>
              <a:t>py</a:t>
            </a:r>
            <a:r>
              <a:rPr lang="en-US" dirty="0" smtClean="0"/>
              <a:t>, </a:t>
            </a:r>
            <a:r>
              <a:rPr lang="en-US" dirty="0" err="1" smtClean="0"/>
              <a:t>tex</a:t>
            </a:r>
            <a:r>
              <a:rPr lang="en-US" smtClean="0"/>
              <a:t>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222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67</TotalTime>
  <Words>240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Equity</vt:lpstr>
      <vt:lpstr>Advanced Data Analytics  Introduction</vt:lpstr>
      <vt:lpstr>Syllabus</vt:lpstr>
      <vt:lpstr>Machine Learning</vt:lpstr>
      <vt:lpstr>Machine Learning</vt:lpstr>
      <vt:lpstr>Python</vt:lpstr>
      <vt:lpstr>Scikit-learn</vt:lpstr>
      <vt:lpstr>Scikit-learn</vt:lpstr>
      <vt:lpstr>Jupyter Notebook</vt:lpstr>
    </vt:vector>
  </TitlesOfParts>
  <Company>MIGROS A.S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Cases Studies in Data Analytics</dc:title>
  <dc:creator>Birol Yüceoğlu (Migros)</dc:creator>
  <cp:lastModifiedBy>Birol Yüceoğlu (Migros)</cp:lastModifiedBy>
  <cp:revision>12</cp:revision>
  <dcterms:created xsi:type="dcterms:W3CDTF">2017-06-01T05:12:57Z</dcterms:created>
  <dcterms:modified xsi:type="dcterms:W3CDTF">2017-11-14T05:02:56Z</dcterms:modified>
</cp:coreProperties>
</file>